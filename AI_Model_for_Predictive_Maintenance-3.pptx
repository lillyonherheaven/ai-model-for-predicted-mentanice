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7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09728" cy="10972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14400"/>
            <a:ext cx="109728" cy="10972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914400"/>
            <a:ext cx="109728" cy="10972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554480"/>
            <a:ext cx="109728" cy="10972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1554480"/>
            <a:ext cx="109728" cy="10972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1554480"/>
            <a:ext cx="109728" cy="10972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5120640"/>
            <a:ext cx="3291840" cy="3291840"/>
          </a:xfrm>
          <a:prstGeom prst="ellipse">
            <a:avLst/>
          </a:prstGeom>
          <a:solidFill>
            <a:srgbClr val="1F3B5C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6126480"/>
            <a:ext cx="1280160" cy="1280160"/>
          </a:xfrm>
          <a:prstGeom prst="ellipse">
            <a:avLst/>
          </a:prstGeom>
          <a:solidFill>
            <a:srgbClr val="F2A007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 for Predictive Maintenance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machine failure before it happens, using sensor data and machine learning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9144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00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 Predictive Maintenance Dataset  •  Decision Tree &amp; Random Forest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Predictive Maintenance?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equipment failure is costly and disruptive. This project builds a machine learning model that predicts machine failure from live sensor readings — enabling maintenance before breakdown occurs.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5F7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1327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machine reading as Failure / No Failure using operating conditions.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5F7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971800"/>
            <a:ext cx="548640" cy="548640"/>
          </a:xfrm>
          <a:prstGeom prst="ellipse">
            <a:avLst/>
          </a:prstGeom>
          <a:solidFill>
            <a:srgbClr val="1327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4069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records of simulated industrial sensor data (AI4I 2020 dataset).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69748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5F7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971800"/>
            <a:ext cx="548640" cy="548640"/>
          </a:xfrm>
          <a:prstGeom prst="ellipse">
            <a:avLst/>
          </a:prstGeom>
          <a:solidFill>
            <a:srgbClr val="13273E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657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4069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preprocessing, feature selection, and two classification models compared.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AI4I 2020 Predictive Maintenance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4864" cy="77724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duplicate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4864" cy="777240"/>
          </a:xfrm>
          <a:prstGeom prst="rect">
            <a:avLst/>
          </a:prstGeom>
          <a:solidFill>
            <a:srgbClr val="F2A00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709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(339 failures)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91840" y="19659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— product quality variant (L / M / H)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&amp; Process temperature [K]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 [rpm]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[Nm]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[min]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06640" y="1554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Modes (target components)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196596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 — Tool Wear Failure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 — Heat Dissipation Failure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PWF — Power Failure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 — Overstrain Failure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— Random Failure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0" y="4434840"/>
            <a:ext cx="8321040" cy="1234440"/>
          </a:xfrm>
          <a:prstGeom prst="roundRect">
            <a:avLst>
              <a:gd name="adj" fmla="val 4444"/>
            </a:avLst>
          </a:prstGeom>
          <a:solidFill>
            <a:srgbClr val="13273E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457200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“Machine failure” — a binary flag (1 = any failure occurred, 0 = normal operation), derived from the five failure-mode columns above.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for Outliers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of all numerical sensor features were used to spot extreme values before modeling.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oundRect">
            <a:avLst>
              <a:gd name="adj" fmla="val 1136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pic>
        <p:nvPicPr>
          <p:cNvPr id="6" name="Image 0" descr="7437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148840"/>
            <a:ext cx="1060704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 and Torque show a noticeable number of outliers — these were capped rather than dropped, since extreme readings often coincide with failure events.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Rotational Speed vs. Torque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4709160"/>
          </a:xfrm>
          <a:prstGeom prst="roundRect">
            <a:avLst>
              <a:gd name="adj" fmla="val 971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pic>
        <p:nvPicPr>
          <p:cNvPr id="5" name="Image 0" descr="7437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45920"/>
            <a:ext cx="621792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828800"/>
            <a:ext cx="4160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inverse relationship exists between rotational speed and torque — expected from motor physics.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(orange) cluster at the extremes: very high torque with low speed, and very high speed with low torque.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both features carry strong predictive signal for failure.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962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pic>
        <p:nvPicPr>
          <p:cNvPr id="5" name="Image 0" descr="7437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45920"/>
            <a:ext cx="557784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828800"/>
            <a:ext cx="4709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 and Process temperature are highly correlated (0.88) — near-duplicate signals.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 and Torque are strongly negatively correlated (-0.88), consistent with the scatter plot.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correlates most with HDF (0.58), OSF (0.53), and PWF (0.52) — the dominant failure modes.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7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1F3B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ID columns (UDI, Product ID); confirmed zero missing values and zero duplicates.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1F3B5C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2221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the categorical “Type” feature (L / M / H product quality).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1F3B5C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58200" y="2221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Outliers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5603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extreme values in speed, torque, and temperature features identified via boxplots.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1F3B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136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370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all numeric features with StandardScaler.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74904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1F3B5C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39136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17720" y="4370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Features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SelectKBest (mutual information) to keep the 7 most informative features.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749040"/>
            <a:ext cx="3520440" cy="1874520"/>
          </a:xfrm>
          <a:prstGeom prst="roundRect">
            <a:avLst>
              <a:gd name="adj" fmla="val 3415"/>
            </a:avLst>
          </a:prstGeom>
          <a:solidFill>
            <a:srgbClr val="1F3B5C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39136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58200" y="43708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train–test split to preserve the ~3.4% failure rate in both sets.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6, min_samples_leaf = 20, min_samples_split = 40 — tuned to limit overfitting on the imbalanced target.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4630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13273E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600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34840" y="20574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trees, trained on the same selected features for a stronger, more stable predictor.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both?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58200" y="20116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interpretable tree is compared against an ensemble to check whether added complexity meaningfully improves failure detection.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Strategy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 on the training set, preserving the failure ratio in every fold.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Accuracy, Precision, Recall, F1-score, and ROC-AUC — not accuracy alone, since failures are rare.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 confirmed on a held-out 20% test set (2,000 records) the models never saw during training.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on the held-out test set (2,000 records, 68 true failures).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13716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7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6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Highest-Recall Model: Random Forest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the priority metric here: </a:t>
            </a:r>
            <a:pPr indent="0" marL="0">
              <a:buNone/>
            </a:pPr>
            <a:r>
              <a:rPr lang="en-US" sz="13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real failure (a false negative) is far more costly than a false alarm. Random Forest catches 89.7% of true failures, and both models trade some precision for that safety margin — typical, and desirable, in predictive maintenance.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5349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88.2%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Recall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0" y="5349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0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291840" y="5989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Recall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outcomes on the 2,000-record test 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4160520"/>
          </a:xfrm>
          <a:prstGeom prst="roundRect">
            <a:avLst>
              <a:gd name="adj" fmla="val 1099"/>
            </a:avLst>
          </a:prstGeom>
          <a:solidFill>
            <a:srgbClr val="F5F7F9"/>
          </a:solidFill>
          <a:ln w="12700">
            <a:solidFill>
              <a:srgbClr val="DFE5EA"/>
            </a:solidFill>
            <a:prstDash val="solid"/>
          </a:ln>
        </p:spPr>
      </p:sp>
      <p:pic>
        <p:nvPicPr>
          <p:cNvPr id="6" name="Image 0" descr="7437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057400"/>
            <a:ext cx="1051560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correctly flag over 88% of true failures </a:t>
            </a:r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(60/68 for Decision Tree, 61/68 for Random Forest), with only 7–8 failures missed — the key requirement for a maintenance early-warning system.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7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11680"/>
          </a:xfrm>
          <a:prstGeom prst="roundRect">
            <a:avLst>
              <a:gd name="adj" fmla="val 3182"/>
            </a:avLst>
          </a:prstGeom>
          <a:solidFill>
            <a:srgbClr val="1F3B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411480" cy="4114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models generalize well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accuracy stay within ~0.5–0.6 points of each other (RF: 93.3% → 92.7%), showing minimal overfitting.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257800" cy="2011680"/>
          </a:xfrm>
          <a:prstGeom prst="roundRect">
            <a:avLst>
              <a:gd name="adj" fmla="val 3182"/>
            </a:avLst>
          </a:prstGeom>
          <a:solidFill>
            <a:srgbClr val="1F3B5C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874520"/>
            <a:ext cx="411480" cy="4114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1828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edges ahead on recall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 vs. 88.2% for Decision Tree — marginally better at catching real failures, the most costly type of error to miss.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257800" cy="2011680"/>
          </a:xfrm>
          <a:prstGeom prst="roundRect">
            <a:avLst>
              <a:gd name="adj" fmla="val 3182"/>
            </a:avLst>
          </a:prstGeom>
          <a:solidFill>
            <a:srgbClr val="1F3B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paid off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speed, torque, temperature, and tool wear carried most of the predictive signal for failure.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886200"/>
            <a:ext cx="5257800" cy="2011680"/>
          </a:xfrm>
          <a:prstGeom prst="roundRect">
            <a:avLst>
              <a:gd name="adj" fmla="val 3182"/>
            </a:avLst>
          </a:prstGeom>
          <a:solidFill>
            <a:srgbClr val="1F3B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160520"/>
            <a:ext cx="411480" cy="4114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8040" y="4114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next step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4754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promising foundation for a deployed early-warning system — next: threshold tuning and richer failure-type classification.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7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F3B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91840" cy="3291840"/>
          </a:xfrm>
          <a:prstGeom prst="ellipse">
            <a:avLst/>
          </a:prstGeom>
          <a:solidFill>
            <a:srgbClr val="1F3B5C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760720"/>
            <a:ext cx="1280160" cy="1280160"/>
          </a:xfrm>
          <a:prstGeom prst="ellipse">
            <a:avLst/>
          </a:prstGeom>
          <a:solidFill>
            <a:srgbClr val="F2A00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9144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for Predictive Maintenance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2026-07-16T19:48:19Z</dcterms:created>
  <dcterms:modified xsi:type="dcterms:W3CDTF">2026-07-16T19:48:19Z</dcterms:modified>
</cp:coreProperties>
</file>